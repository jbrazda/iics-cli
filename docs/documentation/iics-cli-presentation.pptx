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0" r:id="rId15"/>
    <p:sldId id="271" r:id="rId1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2016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AD5A96-BEE0-3EA2-A659-AC9DCB1732D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556250" y="6642100"/>
            <a:ext cx="11017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Classified as Public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Calibri"/>
              </a:rPr>
              <a:t>iics-cli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BBCCFF"/>
                </a:solidFill>
                <a:latin typeface="Calibri"/>
              </a:rPr>
              <a:t>A Modern Command-Line Interface for Informatica IICS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AA44"/>
                </a:solidFill>
                <a:latin typeface="Calibri"/>
              </a:rPr>
              <a:t>REST API v3  |  Go Binary  |  POSIX Compliant  |  Actively Maintained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888888"/>
                </a:solidFill>
                <a:latin typeface="Calibri"/>
              </a:rPr>
              <a:t>Replacing the abandoned Informatica Asset Management CLI V2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33333"/>
                </a:solidFill>
                <a:latin typeface="Calibri"/>
              </a:rPr>
              <a:t>  1.  The Problem – Limitations of the Official Informatica CLI</a:t>
            </a:r>
          </a:p>
          <a:p>
            <a:r>
              <a:rPr sz="1700" b="0">
                <a:solidFill>
                  <a:srgbClr val="333333"/>
                </a:solidFill>
                <a:latin typeface="Calibri"/>
              </a:rPr>
              <a:t>  2.  POSIX Exit Codes – Reliable CI/CD Integration</a:t>
            </a:r>
          </a:p>
          <a:p>
            <a:r>
              <a:rPr sz="1700" b="0">
                <a:solidFill>
                  <a:srgbClr val="333333"/>
                </a:solidFill>
                <a:latin typeface="Calibri"/>
              </a:rPr>
              <a:t>  3.  Machine-Readable Output – JSON, CSV, Tables</a:t>
            </a:r>
          </a:p>
          <a:p>
            <a:r>
              <a:rPr sz="1700" b="0">
                <a:solidFill>
                  <a:srgbClr val="333333"/>
                </a:solidFill>
                <a:latin typeface="Calibri"/>
              </a:rPr>
              <a:t>  4.  Secure Credential Management</a:t>
            </a:r>
          </a:p>
          <a:p>
            <a:r>
              <a:rPr sz="1700" b="0">
                <a:solidFill>
                  <a:srgbClr val="333333"/>
                </a:solidFill>
                <a:latin typeface="Calibri"/>
              </a:rPr>
              <a:t>  5.  Named Environment Profiles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548640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dirty="0">
                <a:solidFill>
                  <a:srgbClr val="333333"/>
                </a:solidFill>
                <a:latin typeface="Calibri"/>
              </a:rPr>
              <a:t>  6.  Session Caching</a:t>
            </a:r>
          </a:p>
          <a:p>
            <a:r>
              <a:rPr sz="1700" b="0" dirty="0">
                <a:solidFill>
                  <a:srgbClr val="333333"/>
                </a:solidFill>
                <a:latin typeface="Calibri"/>
              </a:rPr>
              <a:t>  7.  Broad API Coverage – 20+ Resources</a:t>
            </a:r>
          </a:p>
          <a:p>
            <a:r>
              <a:rPr sz="1700" b="0" dirty="0">
                <a:solidFill>
                  <a:srgbClr val="333333"/>
                </a:solidFill>
                <a:latin typeface="Calibri"/>
              </a:rPr>
              <a:t>  8.  Full Region Support</a:t>
            </a:r>
          </a:p>
          <a:p>
            <a:r>
              <a:rPr lang="en-US" sz="1700" b="0" dirty="0">
                <a:solidFill>
                  <a:srgbClr val="333333"/>
                </a:solidFill>
                <a:latin typeface="Calibri"/>
              </a:rPr>
              <a:t>  9.  Single Binary – No external dependencies required</a:t>
            </a:r>
          </a:p>
          <a:p>
            <a:r>
              <a:rPr lang="en-US" sz="1700" b="0" dirty="0">
                <a:solidFill>
                  <a:srgbClr val="333333"/>
                </a:solidFill>
                <a:latin typeface="Calibri"/>
              </a:rPr>
              <a:t>  10. Feature Comparison 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Informatica Asset Management CLI V2 – what it cannot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CC0000"/>
                </a:solidFill>
                <a:latin typeface="Calibri"/>
              </a:rPr>
              <a:t>•  No longer maintained – last update years ago, no bug fixes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Covers only 5 operations: export, import, publish, list, version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Always exits with code 0 – CI/CD pipelines cannot detect failures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No structured output – cannot pipe to jq, grep, or other UNIX tools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Credentials passed as command-line flags (-u user -p pass) – visible in ps, logs, history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No environment profiles – must retype credentials for every org/env switch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Authenticates on every invocation – no session reuse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Only 3 hardcoded regions: us / eu / ap – many IICS pods not covered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Java-based – requires JVM on every machine / Docker image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Flat command model – no subcommand hierarchy, poor discoverability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POSIX Exit Codes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Reliable failure detection in scripts and CI/CD pipelines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0000"/>
                </a:solidFill>
                <a:latin typeface="Calibri"/>
              </a:rPr>
              <a:t>Official CLI – exit code is always 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5303520" cy="1463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60020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Export fails – but exit code is still 0
iics export -u user@co.com -p secret -r us \
  -a "MyProject/BadAsset.Process"
echo $?   # → 0  (pipeline keeps running!)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44"/>
                </a:solidFill>
                <a:latin typeface="Calibri"/>
              </a:rPr>
              <a:t>iics-cli – three distinct exit codes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508760"/>
            <a:ext cx="5303520" cy="1463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iics export create --name nightly --project Prod
echo $?   # → 1  (API / runtime error)
iics export create --bad-flag
echo $?   # → 2  (usage / flag error)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828800" y="320040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Exit Code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Use Case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Success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All pipeline steps continue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Runtime / API error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API call failed, network error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Usage error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Unknown flag, missing argument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66CC"/>
                </a:solidFill>
                <a:latin typeface="Calibri"/>
              </a:rPr>
              <a:t>Works correctly with set -e scripts, make targets, GitHub Actions, and Jenkins.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Machine-Readable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JSON, CSV, and Table formats – pipe into any UNIX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3366"/>
                </a:solidFill>
                <a:latin typeface="Calibri"/>
              </a:rPr>
              <a:t>Every command supports --output / -o  table | json | csv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1247120" cy="3566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645920"/>
            <a:ext cx="10972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Default table – human readable
iics user list
# JSON – pipe into jq
iics user list -o json | jq -r '.[].userName'
# CSV – import into Excel / Google Sheets
iics connection list -o csv &gt; connections.csv
# Find enabled schedules and extract names
iics schedule list -o json \
  | jq -r '.[] | select(.status=="ENABLED") | .name'
# Count objects in a project
iics objects list --project Prod -o json | jq length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257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66CC"/>
                </a:solidFill>
                <a:latin typeface="Calibri"/>
              </a:rPr>
              <a:t>stdout is always clean data.  All errors and diagnostics go to stderr.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Secure Credential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Credentials never appear on the command 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0000"/>
                </a:solidFill>
                <a:latin typeface="Calibri"/>
              </a:rPr>
              <a:t>Official CLI – credentials on every command 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5303520" cy="18288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60020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Visible in ps aux, shell history, CI logs
iics export \
  -u admin@company.com \
  -p MyP@ssword123 \
  -r us \
  -a "Prod/CriticalFlow.Process"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44"/>
                </a:solidFill>
                <a:latin typeface="Calibri"/>
              </a:rPr>
              <a:t>iics-cli – credentials in config file + env var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508760"/>
            <a:ext cx="5303520" cy="18288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~/.iics/config.yaml  (chmod 600)
defaultProfile: prod
profiles:
  prod:
    region: US
    username: admin@company.com
# Password via env var – never in a file
export IICS_PASSWORD='MyP@ssword123'
iics export create --name nightly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6616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33333"/>
                </a:solidFill>
                <a:latin typeface="Calibri"/>
              </a:rPr>
              <a:t>•  Config file protected with OS file permissions (chmod 600)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Password sourced from IICS_PASSWORD env var or secret manager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No credentials in process list, shell history, or build logs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Compatible with HashiCorp Vault, AWS Secrets Manager, GitHub Secrets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Named Environment Profiles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Switch between orgs and environments with a single flag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5303520" cy="41148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28016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~/.iics/config.yaml
defaultProfile: dev
profiles:
  dev:
    region: US
    username: dev-user@company.com
  staging:
    region: US
    username: staging-admin@company.com
  prod:
    region: US
    username: prod-admin@company.com
  emea:
    region: EMEA
    username: emea-admin@company.com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Switching environments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600200"/>
            <a:ext cx="5303520" cy="2743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169164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Use the --profile flag
iics user list --profile dev
iics user list --profile prod
# Or the IICS_PROFILE env var
IICS_PROFILE=emea iics export create \
  --name weekly-backup
# Perfect for deployment scripts
for env in dev staging prod; do
  iics export create --profile $env \
    --name "snapshot-$env"
done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3333"/>
                </a:solidFill>
                <a:latin typeface="Calibri"/>
              </a:rPr>
              <a:t>•  Separate credentials per environment – no copy-paste mistakes</a:t>
            </a:r>
          </a:p>
          <a:p>
            <a:r>
              <a:rPr sz="1400" b="0">
                <a:solidFill>
                  <a:srgbClr val="333333"/>
                </a:solidFill>
                <a:latin typeface="Calibri"/>
              </a:rPr>
              <a:t>•  Profile name can be overridden by IICS_PROFILE env var for CI/CD</a:t>
            </a:r>
          </a:p>
          <a:p>
            <a:r>
              <a:rPr sz="1400" b="0">
                <a:solidFill>
                  <a:srgbClr val="333333"/>
                </a:solidFill>
                <a:latin typeface="Calibri"/>
              </a:rPr>
              <a:t>•  defaultProfile used when no --profile flag is given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Session Caching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Authenticate once, reuse for 30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0000"/>
                </a:solidFill>
                <a:latin typeface="Calibri"/>
              </a:rPr>
              <a:t>Official CLI – authenticates on every command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C0000"/>
                </a:solidFill>
                <a:latin typeface="Calibri"/>
              </a:rPr>
              <a:t>•  Login round-trip added to every command</a:t>
            </a:r>
          </a:p>
          <a:p>
            <a:r>
              <a:rPr sz="1400" b="0">
                <a:solidFill>
                  <a:srgbClr val="CC0000"/>
                </a:solidFill>
                <a:latin typeface="Calibri"/>
              </a:rPr>
              <a:t>•  Risk of account lockout during scripted runs</a:t>
            </a:r>
          </a:p>
          <a:p>
            <a:r>
              <a:rPr sz="1400" b="0">
                <a:solidFill>
                  <a:srgbClr val="CC0000"/>
                </a:solidFill>
                <a:latin typeface="Calibri"/>
              </a:rPr>
              <a:t>•  Slower in pipelines with many sequential commands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44"/>
                </a:solidFill>
                <a:latin typeface="Calibri"/>
              </a:rPr>
              <a:t>iics-cli – session token cached with 30-min TTL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554480"/>
            <a:ext cx="5303520" cy="25603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164592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iics login                   # authenticates once
iics user list               # reuses session
iics role list               # reuses session
iics connection list         # reuses session
iics export create --name x  # reuses session
# Separate cached session per profile
iics user list --profile prod  # own token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49039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33333"/>
                </a:solidFill>
                <a:latin typeface="Calibri"/>
              </a:rPr>
              <a:t>•  Sessions cached in ~/.iics/sessions.yaml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Each profile has its own independent session entry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Expired or invalid sessions trigger automatic re-login transparently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401 responses auto-retry once with a fresh login – no manual intervention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Broad API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20+ resource types vs. 5 operations in the official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43000"/>
          <a:ext cx="54864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38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Resource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Operations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objects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list, dependencies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lookup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resolve IDs, names, paths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connection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list, get, create, update, delete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export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create, status, download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import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upload, start, status, log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schedule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list, get, create, update, delete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project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create, update, delete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folder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create, update, delete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list, get, create, update, delete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7383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usergroup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list, get, create, update, delete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1143000"/>
          <a:ext cx="54864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38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Resource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Operations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list, get, create, update, delete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privilege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runtime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list, get, create, update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list, start, stop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assign, remove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permission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get, set, delete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securitylog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metering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get, download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sourcecontrol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checkout, checkin, pull, commit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7383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fetch, 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Comprehensive Region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All IICS pod regions – not just us / eu / ap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0000"/>
                </a:solidFill>
                <a:latin typeface="Calibri"/>
              </a:rPr>
              <a:t>Official CLI – 3 hardcoded regions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C0000"/>
                </a:solidFill>
                <a:latin typeface="Calibri"/>
              </a:rPr>
              <a:t>•  -r us</a:t>
            </a:r>
          </a:p>
          <a:p>
            <a:r>
              <a:rPr sz="1400" b="0">
                <a:solidFill>
                  <a:srgbClr val="CC0000"/>
                </a:solidFill>
                <a:latin typeface="Calibri"/>
              </a:rPr>
              <a:t>•  -r eu</a:t>
            </a:r>
          </a:p>
          <a:p>
            <a:r>
              <a:rPr sz="1400" b="0">
                <a:solidFill>
                  <a:srgbClr val="CC0000"/>
                </a:solidFill>
                <a:latin typeface="Calibri"/>
              </a:rPr>
              <a:t>•  -r 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09728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44"/>
                </a:solidFill>
                <a:latin typeface="Calibri"/>
              </a:rPr>
              <a:t>iics-cli – full pod registry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0" y="1508760"/>
          <a:ext cx="71323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Region Code(s)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Geography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USW1, USW1-1, USW1-2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 West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USE2, USE4, USE6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 East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USW3, USW3-1, USW5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 West (additional)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CAC1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Canada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EMEA, EMWE1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Europe / Middle East / Africa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APSE1, APJ, APNE1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Asia Pacific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120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66CC"/>
                </a:solidFill>
                <a:latin typeface="Calibri"/>
              </a:rPr>
              <a:t>A loginUrl override is also supported for future pods or custom deployments.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11247120" cy="10972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40233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Use a built-in region
iics user list --profile emea   # region: EMEA in config
# Override with explicit login URL
# loginUrl: https://dm-us.informaticacloud.com/ma/api/v2/user/login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Structured Subcommands &amp; Built-in Help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kubectl / gh / aws style resource-verb hierarchy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6858000" cy="5029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280160"/>
            <a:ext cx="6583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Resource  Verb  Flags
iics user   list
iics user   get   --id abc123
iics user   create --from-file user.json
iics connection list
iics connection update --id xyz --from-file conn.json
iics export create --name nightly --project Prod
iics export status --job-id 12345
iics export download --job-id 12345 --output export.zip
iics sourcecontrol checkin --project Prod --comment "release 2.4"
iics state fetch --project Prod --output state.json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1887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Built-in help at every level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1600200"/>
            <a:ext cx="4389120" cy="13716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35239" y="1691640"/>
            <a:ext cx="4114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iics --help
iics user --help
iics export create --help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10896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Calibri"/>
              </a:rPr>
              <a:t>•  Same pattern as kubectl, gh, aws – familiar to DevOps teams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Tab completion supported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Per-command docs in docs/documentation/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Full flag reference in built-in --help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Better Error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Structured API errors with HTTP context – all on stderr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0000"/>
                </a:solidFill>
                <a:latin typeface="Calibri"/>
              </a:rPr>
              <a:t>Official CLI – vague error messages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5303520" cy="13716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6002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$ iics export -u user -p pass -r us \
  -a "Project/Missing.Process"
Error occurred.
exit code: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44"/>
                </a:solidFill>
                <a:latin typeface="Calibri"/>
              </a:rPr>
              <a:t>iics-cli – structured errors to stderr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508760"/>
            <a:ext cx="5303520" cy="2286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$ iics export create --name bad --project X
Error: API error 400: project 'X' not found
  HTTP 400 Bad Request
  {
    "error": {
      "code": "ICS-012345",
      "message": "project 'X' not found"
    }
  }
exit code: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2336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33333"/>
                </a:solidFill>
                <a:latin typeface="Calibri"/>
              </a:rPr>
              <a:t>•  Error summary always on stderr – stdout stays clean for piping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--debug flag prints full request body for deep troubleshooting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--verbose flag enables extra HTTP detail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API error code, HTTP status, and response body all included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Usage errors (exit 2) print a hint without cluttering stdout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Feature Comparison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2640267"/>
              </p:ext>
            </p:extLst>
          </p:nvPr>
        </p:nvGraphicFramePr>
        <p:xfrm>
          <a:off x="365760" y="1097280"/>
          <a:ext cx="11430000" cy="5440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004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Informatica CLI V2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iics-cli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Actively maintained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POSIX exit codes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JSON / CSV output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Pipe-friendly stdout/stderr 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Credentials in config file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Named environment profiles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Session caching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User &amp; group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Connection CRUD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Schedule CRUD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Agent &amp; runtime management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Source control operations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All IICS regions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333333"/>
                          </a:solidFill>
                          <a:latin typeface="Calibri"/>
                        </a:rPr>
                        <a:t>Single binary – no </a:t>
                      </a:r>
                      <a:r>
                        <a:rPr lang="en-US" sz="1200" dirty="0">
                          <a:solidFill>
                            <a:srgbClr val="333333"/>
                          </a:solidFill>
                          <a:latin typeface="Calibri"/>
                        </a:rPr>
                        <a:t>external dependencies</a:t>
                      </a:r>
                      <a:endParaRPr sz="1200" dirty="0">
                        <a:solidFill>
                          <a:srgbClr val="333333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9944"/>
                          </a:solidFill>
                          <a:latin typeface="+mn-lt"/>
                        </a:rPr>
                        <a:t>Yes</a:t>
                      </a:r>
                      <a:endParaRPr sz="1200" dirty="0">
                        <a:solidFill>
                          <a:srgbClr val="CC000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4005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Built-in contextual help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Minimal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Install, configure, and run your first command in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1. Download the binary for your platform
curl -L https://github.com/jbrazda/iics-cli/releases/latest/download/iics_linux_amd64 \
  -o /usr/local/bin/iics &amp;&amp; chmod +x /usr/local/bin/iics
# 2. Create ~/.iics/config.yaml
mkdir -p ~/.iics &amp;&amp; chmod 700 ~/.iics
cat &gt; ~/.iics/config.yaml &lt;&lt; 'EOF'
defaultProfile: default
profiles:
  default:
    region: US
    username: your-email@company.com
EOF
chmod 600 ~/.iics/config.yaml
# 3. Set your password in the environment
export IICS_PASSWORD='your-password'
# 4. Login (optional – cached for 30 min)
iics login
# 5. Start exploring
iics user list
iics connection list -o json | jq '.[].name'
iics export create --name my-first-export --project MyProject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AA44"/>
                </a:solidFill>
                <a:latin typeface="Calibri"/>
              </a:rPr>
              <a:t>github.com/jbrazda/iics-cli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CCFF"/>
                </a:solidFill>
                <a:latin typeface="Calibri"/>
              </a:rPr>
              <a:t>Source code  •  Releases  •  Issues  •  Documentation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31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888888"/>
                </a:solidFill>
                <a:latin typeface="Calibri"/>
              </a:rPr>
              <a:t>docs/documentation/  in the repository for full per-command reference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2196</Words>
  <Application>Microsoft Office PowerPoint</Application>
  <PresentationFormat>Custom</PresentationFormat>
  <Paragraphs>239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Brazda, Jaroslav</cp:lastModifiedBy>
  <cp:revision>2</cp:revision>
  <dcterms:created xsi:type="dcterms:W3CDTF">2013-01-27T09:14:16Z</dcterms:created>
  <dcterms:modified xsi:type="dcterms:W3CDTF">2026-03-11T12:43:31Z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19e8b43-b7e5-4a1a-bfaa-963715bb19a6_Enabled">
    <vt:lpwstr>true</vt:lpwstr>
  </property>
  <property fmtid="{D5CDD505-2E9C-101B-9397-08002B2CF9AE}" pid="3" name="MSIP_Label_319e8b43-b7e5-4a1a-bfaa-963715bb19a6_SetDate">
    <vt:lpwstr>2026-03-11T12:40:22Z</vt:lpwstr>
  </property>
  <property fmtid="{D5CDD505-2E9C-101B-9397-08002B2CF9AE}" pid="4" name="MSIP_Label_319e8b43-b7e5-4a1a-bfaa-963715bb19a6_Method">
    <vt:lpwstr>Privileged</vt:lpwstr>
  </property>
  <property fmtid="{D5CDD505-2E9C-101B-9397-08002B2CF9AE}" pid="5" name="MSIP_Label_319e8b43-b7e5-4a1a-bfaa-963715bb19a6_Name">
    <vt:lpwstr>Public</vt:lpwstr>
  </property>
  <property fmtid="{D5CDD505-2E9C-101B-9397-08002B2CF9AE}" pid="6" name="MSIP_Label_319e8b43-b7e5-4a1a-bfaa-963715bb19a6_SiteId">
    <vt:lpwstr>1b790f3e-b07a-492f-b39e-50e72799bf68</vt:lpwstr>
  </property>
  <property fmtid="{D5CDD505-2E9C-101B-9397-08002B2CF9AE}" pid="7" name="MSIP_Label_319e8b43-b7e5-4a1a-bfaa-963715bb19a6_ActionId">
    <vt:lpwstr>01d2f961-42ad-4aba-a397-e237afcd5983</vt:lpwstr>
  </property>
  <property fmtid="{D5CDD505-2E9C-101B-9397-08002B2CF9AE}" pid="8" name="MSIP_Label_319e8b43-b7e5-4a1a-bfaa-963715bb19a6_ContentBits">
    <vt:lpwstr>2</vt:lpwstr>
  </property>
  <property fmtid="{D5CDD505-2E9C-101B-9397-08002B2CF9AE}" pid="9" name="MSIP_Label_319e8b43-b7e5-4a1a-bfaa-963715bb19a6_Tag">
    <vt:lpwstr>10, 0, 1, 1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Classified as Public</vt:lpwstr>
  </property>
</Properties>
</file>